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834640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200" b="1">
                <a:solidFill>
                  <a:srgbClr val="007BC0"/>
                </a:solidFill>
              </a:defRPr>
            </a:pPr>
            <a:r>
              <a:t>AFFI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AI Flood Inundation Early Warning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7CDD4"/>
                </a:solidFill>
              </a:defRPr>
            </a:pPr>
            <a:r>
              <a:t>Physics-Guided AI for Real-Time Flood Forecasting in Semi-Arid Watersheds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A745"/>
                </a:solidFill>
              </a:defRPr>
            </a:pPr>
            <a:r>
              <a:t>Presented to: Pima County Flood Control District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196"/>
                </a:solidFill>
              </a:defRPr>
            </a:pPr>
            <a:r>
              <a:t>Solman Raju Sarva | MSc — AI &amp; Hydrology Researcher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C0"/>
                </a:solidFill>
              </a:defRPr>
            </a:pPr>
            <a:r>
              <a:t>01</a:t>
            </a:r>
          </a:p>
        </p:txBody>
      </p:sp>
      <p:sp>
        <p:nvSpPr>
          <p:cNvPr id="8" name="Oval 7"/>
          <p:cNvSpPr/>
          <p:nvPr/>
        </p:nvSpPr>
        <p:spPr>
          <a:xfrm>
            <a:off x="1874519" y="1801368"/>
            <a:ext cx="137160" cy="13716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916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7CDD4"/>
                </a:solidFill>
              </a:defRPr>
            </a:pPr>
            <a:r>
              <a:t>Why rural Arizona flash floods are uniquely dangerous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219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C0"/>
                </a:solidFill>
              </a:defRPr>
            </a:pPr>
            <a:r>
              <a:t>02</a:t>
            </a:r>
          </a:p>
        </p:txBody>
      </p:sp>
      <p:sp>
        <p:nvSpPr>
          <p:cNvPr id="12" name="Oval 11"/>
          <p:cNvSpPr/>
          <p:nvPr/>
        </p:nvSpPr>
        <p:spPr>
          <a:xfrm>
            <a:off x="1874519" y="2331720"/>
            <a:ext cx="137160" cy="13716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221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Why Current Systems 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2219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7CDD4"/>
                </a:solidFill>
              </a:defRPr>
            </a:pPr>
            <a:r>
              <a:t>Gaps in NOAA, FEMA, Google Flood 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5234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C0"/>
                </a:solidFill>
              </a:defRPr>
            </a:pPr>
            <a:r>
              <a:t>03</a:t>
            </a:r>
          </a:p>
        </p:txBody>
      </p:sp>
      <p:sp>
        <p:nvSpPr>
          <p:cNvPr id="16" name="Oval 15"/>
          <p:cNvSpPr/>
          <p:nvPr/>
        </p:nvSpPr>
        <p:spPr>
          <a:xfrm>
            <a:off x="1874519" y="2862072"/>
            <a:ext cx="137160" cy="13716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27523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AFFI Solution Overview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75234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7CDD4"/>
                </a:solidFill>
              </a:defRPr>
            </a:pPr>
            <a:r>
              <a:t>6-stage physics-guided AI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28269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C0"/>
                </a:solidFill>
              </a:defRPr>
            </a:pPr>
            <a:r>
              <a:t>04</a:t>
            </a:r>
          </a:p>
        </p:txBody>
      </p:sp>
      <p:sp>
        <p:nvSpPr>
          <p:cNvPr id="20" name="Oval 19"/>
          <p:cNvSpPr/>
          <p:nvPr/>
        </p:nvSpPr>
        <p:spPr>
          <a:xfrm>
            <a:off x="1874519" y="3392424"/>
            <a:ext cx="137160" cy="13716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32826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Technical Deep Dive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28269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7CDD4"/>
                </a:solidFill>
              </a:defRPr>
            </a:pPr>
            <a:r>
              <a:t>Meteorology → Hydrology → Hydraulics →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8130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C0"/>
                </a:solidFill>
              </a:defRPr>
            </a:pPr>
            <a:r>
              <a:t>05</a:t>
            </a:r>
          </a:p>
        </p:txBody>
      </p:sp>
      <p:sp>
        <p:nvSpPr>
          <p:cNvPr id="24" name="Oval 23"/>
          <p:cNvSpPr/>
          <p:nvPr/>
        </p:nvSpPr>
        <p:spPr>
          <a:xfrm>
            <a:off x="1874519" y="3922776"/>
            <a:ext cx="137160" cy="13716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3813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Task 1 Completed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81304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7CDD4"/>
                </a:solidFill>
              </a:defRPr>
            </a:pPr>
            <a:r>
              <a:t>Forecast interface, MAP computation, alert logic validated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3434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C0"/>
                </a:solidFill>
              </a:defRPr>
            </a:pPr>
            <a:r>
              <a:t>06</a:t>
            </a:r>
          </a:p>
        </p:txBody>
      </p:sp>
      <p:sp>
        <p:nvSpPr>
          <p:cNvPr id="28" name="Oval 27"/>
          <p:cNvSpPr/>
          <p:nvPr/>
        </p:nvSpPr>
        <p:spPr>
          <a:xfrm>
            <a:off x="1874519" y="4453128"/>
            <a:ext cx="137160" cy="13716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9456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Roadmap: Tasks 2–6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343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7CDD4"/>
                </a:solidFill>
              </a:defRPr>
            </a:pPr>
            <a:r>
              <a:t>LSTM, U-Net, Probabilistic Output, Benchmarking, Alert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7375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C0"/>
                </a:solidFill>
              </a:defRPr>
            </a:pPr>
            <a:r>
              <a:t>07</a:t>
            </a:r>
          </a:p>
        </p:txBody>
      </p:sp>
      <p:sp>
        <p:nvSpPr>
          <p:cNvPr id="32" name="Oval 31"/>
          <p:cNvSpPr/>
          <p:nvPr/>
        </p:nvSpPr>
        <p:spPr>
          <a:xfrm>
            <a:off x="1874519" y="4983480"/>
            <a:ext cx="137160" cy="13716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4873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Results &amp; Performance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8737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7CDD4"/>
                </a:solidFill>
              </a:defRPr>
            </a:pPr>
            <a:r>
              <a:t>360x faster than physics models; sub-60s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40410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C0"/>
                </a:solidFill>
              </a:defRPr>
            </a:pPr>
            <a:r>
              <a:t>08</a:t>
            </a:r>
          </a:p>
        </p:txBody>
      </p:sp>
      <p:sp>
        <p:nvSpPr>
          <p:cNvPr id="36" name="Oval 35"/>
          <p:cNvSpPr/>
          <p:nvPr/>
        </p:nvSpPr>
        <p:spPr>
          <a:xfrm>
            <a:off x="1874519" y="5513832"/>
            <a:ext cx="137160" cy="13716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94560" y="540410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Why Pima County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540410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7CDD4"/>
                </a:solidFill>
              </a:defRPr>
            </a:pPr>
            <a:r>
              <a:t>Direct applicability to Pima County wash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93445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C0"/>
                </a:solidFill>
              </a:defRPr>
            </a:pPr>
            <a:r>
              <a:t>09</a:t>
            </a:r>
          </a:p>
        </p:txBody>
      </p:sp>
      <p:sp>
        <p:nvSpPr>
          <p:cNvPr id="40" name="Oval 39"/>
          <p:cNvSpPr/>
          <p:nvPr/>
        </p:nvSpPr>
        <p:spPr>
          <a:xfrm>
            <a:off x="1874519" y="6044184"/>
            <a:ext cx="137160" cy="137160"/>
          </a:xfrm>
          <a:prstGeom prst="ellipse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59344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Timeline &amp; Next Steps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593445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7CDD4"/>
                </a:solidFill>
              </a:defRPr>
            </a:pPr>
            <a:r>
              <a:t>Path from pilot to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Problem: Flash Flooding in Rural Arizona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Deadliest natural hazard. Worst timing. No warning.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474720" cy="43891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Human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287 flood deaths in Arizona (2000–2023)</a:t>
            </a:r>
          </a:p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More than tornadoes + hurricanes + earthquakes combined</a:t>
            </a:r>
          </a:p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Most fatalities: drivers encounter flooded roadways</a:t>
            </a:r>
          </a:p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Little or no advance warning available</a:t>
            </a:r>
          </a:p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$180M annual property damage statewide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91640"/>
            <a:ext cx="3474720" cy="43891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Pilot Watershed: Upper Sonoita Creek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143.6 km² semi-arid terrain, Santa Cruz County</a:t>
            </a:r>
          </a:p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12 major flood events since 1980</a:t>
            </a:r>
          </a:p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3 events exceeded 50-year return period</a:t>
            </a:r>
          </a:p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SR-82 = only evacuation route for 3,200 residents</a:t>
            </a:r>
          </a:p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2006 monsoon: $12M damage, 340 displaced, route closed 72 hrs</a:t>
            </a:r>
          </a:p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Emergency managers received NO advance inundation 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3566160" cy="43891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The Core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Physics flood models take 4–6 hours to run</a:t>
            </a:r>
          </a:p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Arizona monsoon flash flood arrives in &lt; 2 hours</a:t>
            </a:r>
          </a:p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Warning comes AFTER the flood hits</a:t>
            </a:r>
          </a:p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Time gap between warning and impact = lives lost</a:t>
            </a:r>
          </a:p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Current systems designed for large, gauged rivers only</a:t>
            </a:r>
          </a:p>
          <a:p>
            <a:pPr>
              <a:spcAft>
                <a:spcPts val="400"/>
              </a:spcAft>
              <a:defRPr sz="1300">
                <a:solidFill>
                  <a:srgbClr val="C7CDD4"/>
                </a:solidFill>
                <a:latin typeface="Calibri"/>
              </a:defRPr>
            </a:pPr>
            <a:r>
              <a:t>• Hundreds of ephemeral washes remain ungauged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Why Current Systems Fail for Rural Arizona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Each excels at its purpose — none address our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566160" cy="3840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NOAA NWM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7CDD4"/>
                </a:solidFill>
                <a:latin typeface="Calibri"/>
              </a:defRPr>
            </a:pPr>
            <a:r>
              <a:t>• ✓ Streamflow forecasts up to 7 days</a:t>
            </a:r>
          </a:p>
          <a:p>
            <a:pPr>
              <a:spcAft>
                <a:spcPts val="400"/>
              </a:spcAft>
              <a:defRPr sz="1400">
                <a:solidFill>
                  <a:srgbClr val="C7CDD4"/>
                </a:solidFill>
                <a:latin typeface="Calibri"/>
              </a:defRPr>
            </a:pPr>
            <a:r>
              <a:t>• ✗ Requires stream gauge calibration data</a:t>
            </a:r>
          </a:p>
          <a:p>
            <a:pPr>
              <a:spcAft>
                <a:spcPts val="400"/>
              </a:spcAft>
              <a:defRPr sz="1400">
                <a:solidFill>
                  <a:srgbClr val="C7CDD4"/>
                </a:solidFill>
                <a:latin typeface="Calibri"/>
              </a:defRPr>
            </a:pPr>
            <a:r>
              <a:t>• ✗ Does not produce spatial flood maps</a:t>
            </a:r>
          </a:p>
          <a:p>
            <a:pPr>
              <a:spcAft>
                <a:spcPts val="400"/>
              </a:spcAft>
              <a:defRPr sz="1400">
                <a:solidFill>
                  <a:srgbClr val="C7CDD4"/>
                </a:solidFill>
                <a:latin typeface="Calibri"/>
              </a:defRPr>
            </a:pPr>
            <a:r>
              <a:t>• ✗ Not designed for ephemeral channels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566160" cy="3840480"/>
          </a:xfrm>
          <a:prstGeom prst="rect">
            <a:avLst/>
          </a:prstGeom>
          <a:solidFill>
            <a:srgbClr val="FD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Google Flood 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7CDD4"/>
                </a:solidFill>
                <a:latin typeface="Calibri"/>
              </a:defRPr>
            </a:pPr>
            <a:r>
              <a:t>• ✓ Global flood forecasting coverage</a:t>
            </a:r>
          </a:p>
          <a:p>
            <a:pPr>
              <a:spcAft>
                <a:spcPts val="400"/>
              </a:spcAft>
              <a:defRPr sz="1400">
                <a:solidFill>
                  <a:srgbClr val="C7CDD4"/>
                </a:solidFill>
                <a:latin typeface="Calibri"/>
              </a:defRPr>
            </a:pPr>
            <a:r>
              <a:t>• ✗ No coverage for ungauged basins</a:t>
            </a:r>
          </a:p>
          <a:p>
            <a:pPr>
              <a:spcAft>
                <a:spcPts val="400"/>
              </a:spcAft>
              <a:defRPr sz="1400">
                <a:solidFill>
                  <a:srgbClr val="C7CDD4"/>
                </a:solidFill>
                <a:latin typeface="Calibri"/>
              </a:defRPr>
            </a:pPr>
            <a:r>
              <a:t>• ✗ Limited to major rivers in AZ</a:t>
            </a:r>
          </a:p>
          <a:p>
            <a:pPr>
              <a:spcAft>
                <a:spcPts val="400"/>
              </a:spcAft>
              <a:defRPr sz="1400">
                <a:solidFill>
                  <a:srgbClr val="C7CDD4"/>
                </a:solidFill>
                <a:latin typeface="Calibri"/>
              </a:defRPr>
            </a:pPr>
            <a:r>
              <a:t>• ✗ Partial real-time map capability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691640"/>
            <a:ext cx="3566160" cy="3840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FEMA FIRM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03120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7CDD4"/>
                </a:solidFill>
                <a:latin typeface="Calibri"/>
              </a:defRPr>
            </a:pPr>
            <a:r>
              <a:t>• ✓ Static hazard zone maps</a:t>
            </a:r>
          </a:p>
          <a:p>
            <a:pPr>
              <a:spcAft>
                <a:spcPts val="400"/>
              </a:spcAft>
              <a:defRPr sz="1400">
                <a:solidFill>
                  <a:srgbClr val="C7CDD4"/>
                </a:solidFill>
                <a:latin typeface="Calibri"/>
              </a:defRPr>
            </a:pPr>
            <a:r>
              <a:t>• ✗ No event-specific data</a:t>
            </a:r>
          </a:p>
          <a:p>
            <a:pPr>
              <a:spcAft>
                <a:spcPts val="400"/>
              </a:spcAft>
              <a:defRPr sz="1400">
                <a:solidFill>
                  <a:srgbClr val="C7CDD4"/>
                </a:solidFill>
                <a:latin typeface="Calibri"/>
              </a:defRPr>
            </a:pPr>
            <a:r>
              <a:t>• ✗ Not real-time or storm-updated</a:t>
            </a:r>
          </a:p>
          <a:p>
            <a:pPr>
              <a:spcAft>
                <a:spcPts val="400"/>
              </a:spcAft>
              <a:defRPr sz="1400">
                <a:solidFill>
                  <a:srgbClr val="C7CDD4"/>
                </a:solidFill>
                <a:latin typeface="Calibri"/>
              </a:defRPr>
            </a:pPr>
            <a:r>
              <a:t>• ✗ Reflects historical risk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C0"/>
                </a:solidFill>
              </a:defRPr>
            </a:pPr>
            <a:r>
              <a:t>AFFI fills this gap: probabilistic inundation maps for ungauged rural arroyos with lead times sufficient for emergency 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AFFI 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Physics-guided AI pipeline. Speed + Accuracy + Uncertainty quantification.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286000" cy="146304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BC0"/>
                </a:solidFill>
              </a:defRPr>
            </a:pPr>
            <a:r>
              <a:t>&lt; 60</a:t>
            </a:r>
            <a:br/>
            <a:r>
              <a:t>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7CDD4"/>
                </a:solidFill>
              </a:defRPr>
            </a:pPr>
            <a:r>
              <a:t>Pipeline</a:t>
            </a:r>
            <a:br/>
            <a:r>
              <a:t>Run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737360"/>
            <a:ext cx="2286000" cy="146304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783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BC0"/>
                </a:solidFill>
              </a:defRPr>
            </a:pPr>
            <a:r>
              <a:t>360×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4688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7CDD4"/>
                </a:solidFill>
              </a:defRPr>
            </a:pPr>
            <a:r>
              <a:t>Faster than</a:t>
            </a:r>
            <a:br/>
            <a:r>
              <a:t>HEC-RAS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737360"/>
            <a:ext cx="2286000" cy="146304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783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BC0"/>
                </a:solidFill>
              </a:defRPr>
            </a:pPr>
            <a:r>
              <a:t>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4688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7CDD4"/>
                </a:solidFill>
              </a:defRPr>
            </a:pPr>
            <a:r>
              <a:t>Ensemble</a:t>
            </a:r>
            <a:br/>
            <a:r>
              <a:t>Members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737360"/>
            <a:ext cx="2286000" cy="146304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7BC0"/>
                </a:solidFill>
              </a:defRPr>
            </a:pPr>
            <a:r>
              <a:t>&lt; 80 hrs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688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7CDD4"/>
                </a:solidFill>
              </a:defRPr>
            </a:pPr>
            <a:r>
              <a:t>Per Watershed</a:t>
            </a:r>
            <a:br/>
            <a: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566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The Six-Stage Physics-Based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23360"/>
            <a:ext cx="1737360" cy="21031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114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C0"/>
                </a:solidFill>
              </a:defRPr>
            </a:pPr>
            <a:r>
              <a:t>Stage 1</a:t>
            </a:r>
            <a:br/>
            <a:r>
              <a:t>Meteorology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434840"/>
            <a:ext cx="1280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GFS/HRRR</a:t>
            </a:r>
            <a:br/>
            <a:r>
              <a:t>Ensemble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846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BC0"/>
                </a:solidFill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4023360"/>
            <a:ext cx="1737360" cy="21031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4114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C0"/>
                </a:solidFill>
              </a:defRPr>
            </a:pPr>
            <a:r>
              <a:t>Stage 2</a:t>
            </a:r>
            <a:br/>
            <a:r>
              <a:t>Hydrology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434840"/>
            <a:ext cx="1280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LSTM</a:t>
            </a:r>
            <a:br/>
            <a:r>
              <a:t>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846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BC0"/>
                </a:solidFill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4023360"/>
            <a:ext cx="1737360" cy="21031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4114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C0"/>
                </a:solidFill>
              </a:defRPr>
            </a:pPr>
            <a:r>
              <a:t>Stage 3</a:t>
            </a:r>
            <a:br/>
            <a:r>
              <a:t>Hydraulics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434840"/>
            <a:ext cx="1280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U-Net</a:t>
            </a:r>
            <a:br/>
            <a:r>
              <a:t>Surrogate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846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BC0"/>
                </a:solidFill>
              </a:defRPr>
            </a:pPr>
            <a: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023360"/>
            <a:ext cx="1737360" cy="21031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4114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C0"/>
                </a:solidFill>
              </a:defRPr>
            </a:pPr>
            <a:r>
              <a:t>Stage 4</a:t>
            </a:r>
            <a:br/>
            <a:r>
              <a:t>Probabilistic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434840"/>
            <a:ext cx="1280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31 Ensemble</a:t>
            </a:r>
            <a:br/>
            <a:r>
              <a:t>Maps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4846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BC0"/>
                </a:solidFill>
              </a:defRPr>
            </a:pPr>
            <a: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4023360"/>
            <a:ext cx="1737360" cy="21031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114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C0"/>
                </a:solidFill>
              </a:defRPr>
            </a:pPr>
            <a:r>
              <a:t>Stage 5</a:t>
            </a:r>
            <a:br/>
            <a:r>
              <a:t>Benchmarking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434840"/>
            <a:ext cx="1280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Return Period</a:t>
            </a:r>
            <a:br/>
            <a:r>
              <a:t>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48463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BC0"/>
                </a:solidFill>
              </a:defRPr>
            </a:pPr>
            <a: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41280" y="4023360"/>
            <a:ext cx="1737360" cy="21031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69880" y="4114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C0"/>
                </a:solidFill>
              </a:defRPr>
            </a:pPr>
            <a:r>
              <a:t>Stage 6</a:t>
            </a:r>
            <a:br/>
            <a:r>
              <a:t>Alert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69880" y="4434840"/>
            <a:ext cx="1280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JSON Alert</a:t>
            </a:r>
            <a:br/>
            <a:r>
              <a:t>Packet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Architecture Deep Dive: Stages 1–3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Physics-based forecast → AI hydrology → AI hydraulics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474720" cy="43891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Stage 1: Meteorology (~5 sec)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Ingests GFS ensemble (31 members, 6-hourly updates)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Also HREF ensemble (~10 members, hourly, CONUS)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Computes Mean Areal Precipitation (MAP) over watershed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Accumulation windows: 1h to 168h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NOT AI — physics-based numerical weather prediction from NOAA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MAP = spatially averaged rainfall (critical for accuracy)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91640"/>
            <a:ext cx="3474720" cy="43891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Stage 2: Hydrology / LSTM (~8 sec)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Converts MAP → streamflow hydrograph (ft³/s)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LSTM captures temporal dependencies in rainfall-runoff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Base training: Walnut Gulch 70-year record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Fine-tuning: target watershed with final layers only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Needs as few as 10–15 years of local data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Incorporates slope, soil, vegetation, elevation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NSE &gt; 0.80 validated on 531 US watersheds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3566160" cy="43891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Stage 3: Hydraulics / U-Net (~45 sec)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Converts discharge → spatial flood inundation map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Trained on 250 physics-based HEC-RAS simulations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U-Net takes 2D input (terrain + discharge), outputs 2D flood depth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Physics constraints enforced: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Gravity: water never flows uphill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Monotonicity: higher discharge = greater inundation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Mass conservation: runoff ≤ rainfall volume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Architecture Deep Dive: Stages 4–6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Probabilistic output → Benchmarking → Operational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474720" cy="43891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Stage 4: Probabilistic Output (~2 sec)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Full pipeline for all 31 GFS ensemble members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Produces 31 flood maps per forecast event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Output products: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Median flood map (best estimate)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90th percentile (worst-case, 10% exceedance)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Probability map: P(depth &gt; 0.5m) per pixel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Uncertainty map: std dev across all 31 members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91640"/>
            <a:ext cx="3474720" cy="43891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Stage 5: Benchmarking (~1 sec)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Compares predictions to federal engineering standards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NOAA Atlas 14 precipitation frequency data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USGS regional regression peak discharge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Classifies each event by return period: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2-year → routine maintenance storm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10-year → design storm standard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50–100 year → major emergency response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3566160" cy="43891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Stage 6: Alert System (~1 sec)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0312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Integrates all pipeline components into operational alert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Alert levels: ADVISORY / WATCH / WARNING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Driven by probability of exceedance (PoE):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Advisory: ≥ 25% PoE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Watch: ≥ 50% PoE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Warning: ≥ 70% PoE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RESTful API (FastAPI) for government integration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EOC-ready dashboard, auto-updates every 6 hours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Lead Time → Confidence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Confidence increases as storm approaches. Right data, right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474720" cy="155448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C0"/>
                </a:solidFill>
              </a:defRPr>
            </a:pPr>
            <a:r>
              <a:t>2 – 7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GFS Ensemble (31 members)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Low – Medium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Pre-position resources</a:t>
            </a:r>
            <a:br/>
            <a:r>
              <a:t>• Early briefings to leadership</a:t>
            </a:r>
            <a:br/>
            <a:r>
              <a:t>• Equipment staging plans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74720"/>
            <a:ext cx="3474720" cy="155448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C0"/>
                </a:solidFill>
              </a:defRPr>
            </a:pPr>
            <a:r>
              <a:t>6 – 24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862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HRRR + Updated GFS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Medium – High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Road closure decisions</a:t>
            </a:r>
            <a:br/>
            <a:r>
              <a:t>• Evacuation planning</a:t>
            </a:r>
            <a:br/>
            <a:r>
              <a:t>• Staff on-call notifications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3474720" cy="155448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349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BC0"/>
                </a:solidFill>
              </a:defRPr>
            </a:pPr>
            <a:r>
              <a:t>0 – 6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692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MRMS Radar + Nowcast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High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Active road closures</a:t>
            </a:r>
            <a:br/>
            <a:r>
              <a:t>• Emergency response dispatch</a:t>
            </a:r>
            <a:br/>
            <a:r>
              <a:t>• Public warnings issued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solidFill>
            <a:srgbClr val="1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A745"/>
                </a:solidFill>
              </a:defRPr>
            </a:pPr>
            <a:r>
              <a:t>Key: Confidence scales from LOW (far forecast) to HIGH (imminent). Action scales accordingly.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Task 1: Completed &amp; Validated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Meteorological Forecast Interface — Production-ready as of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303520" cy="457200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Deliverables Produced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D1.1: GFS ensemble forecast ingestion via Open-Meteo API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D1.2: 5-point grid for Upper Sonoita Creek watershed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D1.3: Mean Areal Precipitation (MAP) computation engine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D1.4: Alert threshold logic benchmarked vs NOAA Atlas 14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Output files: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task1_alert_packet.json — structured forecast data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task1_forecast_dashboard.png — visualization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Interactive dashboard (HTML) — 4-panel Plotly charts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SQLite database — persistent alert 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91640"/>
            <a:ext cx="5486400" cy="4572000"/>
          </a:xfrm>
          <a:prstGeom prst="rect">
            <a:avLst/>
          </a:prstGeom>
          <a:solidFill>
            <a:srgbClr val="1A3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Validation &amp;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✓ Alert thresholds calibrated for Sonoita Creek: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   Advisory: 0.25" (1hr) / 0.75" (24hr)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   Watch:    0.50" (1hr) / 1.25" (24hr)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   Warning:  1.00" (1hr) / 2.00" (24hr)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✓ Dummy rainfall stress test passed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   All return periods validated (2–100 year)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   Each scenario triggers correct alert level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✓ 30 automated unit/integration tests pass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✓ Code review completed with findings documented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5760720"/>
            <a:ext cx="5486400" cy="5486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806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529"/>
                </a:solidFill>
              </a:defRPr>
            </a:pPr>
            <a:r>
              <a:t>Task 1: PRODUCTION-READY — Pipeline operational and validated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Task 2: Physics-Guided LSTM Hydrology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Teaching AI how desert floods work — Transfer learning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474720" cy="475488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Two-Stage Training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Stage 1 — Base Training: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   Train on Walnut Gulch (70-year record)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   Learns desert hydrology fundamentals: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Rapid infiltration patterns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Hortonian overland flow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Ephemeral channel routing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Stage 2 — Fine-Tuning: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   Adapt model to target watershed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   Only final layers updated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   Needs only 10–15 years local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91640"/>
            <a:ext cx="3474720" cy="475488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Why LSTM is the Right Choice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Captures temporal dependencies in rainfall-runoff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Today soil moisture depends on yesterday rainfall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Validated on 531 US watersheds (Kratzert et al., 2019)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Nash-Sutcliffe Efficiency (NSE) &gt; 0.80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Matches or exceeds calibrated physics models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Uses watershed attributes: slope, soil, vegetation, elevation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3566160" cy="475488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Deliverables (Planned)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031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D2.1: Walnut Gulch "Anchor" + Sonoita "Pilot" models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D2.2: Performance scorecard (NSE, Peak Timing)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D2.3: Training config files — reproducible experiments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D2.4: Validation plots — AI vs historical floods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D2.5: Deployment checklist for new watersheds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Benchmarking against 2014 Hurricane Odile remnants.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Return period discharge estimation (Q2–Q100).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Task 3: U-Net Hydraulic Surrogate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Converting predicted discharge into spatial flood inundation maps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474720" cy="475488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HEC-RAS Training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250 HEC-RAS simulations (10 discharge levels × 5 replicates)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Discharge levels: Q2, Q5, Q10, Q25, Q50, Q100 + intermediates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Manning’s n variation for roughness uncertainty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Calibrated against 2006 Santa Cruz monsoon flood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1-meter lidar DEM from USGS 3DEP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U-Net learns the physics — not just patterns.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91640"/>
            <a:ext cx="3474720" cy="475488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U-Net Architecture (ResUNet)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Input: DEM + slope + channel distance + discharge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Output: flood depth raster (feet)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4 encoder/decoder levels with skip connections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Adam optimizer, combined MSE + SSIM loss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Validation targets: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IoU &gt; 0.75 on held-out watersheds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Critical Success Index (CSI)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3566160" cy="475488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Physics Constraints Enforced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031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1. Gravity Constraint: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   Water depth = 0 for pixels above water surface elevation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2. Monotonicity Constraint: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   Higher discharge → equal or greater flood extent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3. Mass Conservation: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   Total runoff volume ≤ total rainfall volume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Ensures physical plausibility outside training distribution.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Tasks 4–6: From Prediction to Operational Alert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Probabilistic products → Benchmarking → EOC-ready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474720" cy="475488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Task 4: Probabilistic Risk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Full pipeline executed for all 31 ensemble members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Median, 90th percentile, probability, uncertainty rasters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Time-to-peak estimate per ensemble member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EOC dashboard: 6-panel visualization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Primary decision product: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P(flood depth &gt; 0.5m) = [0–100%] per pixel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91640"/>
            <a:ext cx="3474720" cy="475488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Task 5: Benchmarking &amp;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Compare predictions to NOAA Atlas 14 + USGS standards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Return period classification (2yr – 100yr)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Validate on 5 historical AZ flood events: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    1983, 1993, 2006, 2014, 2017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Sensitivity analysis: input uncertainty propagation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3566160" cy="475488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Task 6: Operational Alert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031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Alert Logic Specification signed off by local OEM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RESTful API (FastAPI) with key authentication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EOC Dashboard: Streamlit/Dash application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Auto-updates every 6 hours with new GFS data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Operational testing during monsoon season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Performance: AFFI vs. Current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Numbers that matter for emergency decision-making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40280"/>
            <a:ext cx="11064240" cy="347472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12529"/>
                </a:solidFill>
              </a:defRPr>
            </a:pPr>
            <a: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12529"/>
                </a:solidFill>
              </a:defRPr>
            </a:pPr>
            <a:r>
              <a:t>Current (HEC-RAS)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12529"/>
                </a:solidFill>
              </a:defRPr>
            </a:pPr>
            <a:r>
              <a:t>AFFI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39" y="22585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12529"/>
                </a:solidFill>
              </a:defRPr>
            </a:pPr>
            <a:r>
              <a:t>Improvement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87752"/>
            <a:ext cx="110642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060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Time to flood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6060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4–6 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6060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&lt; 60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39" y="26060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</a:defRPr>
            </a:pPr>
            <a:r>
              <a:t>360× faster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35224"/>
            <a:ext cx="11064240" cy="347472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535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Watersheds covered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9535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~12% (gauged only)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9535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Any watershed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39" y="29535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</a:defRPr>
            </a:pPr>
            <a:r>
              <a:t>Statewide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82696"/>
            <a:ext cx="110642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009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Forecast lead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3009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0–2 hours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3009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Up to 7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39" y="33009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</a:defRPr>
            </a:pPr>
            <a:r>
              <a:t>84× longer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630168"/>
            <a:ext cx="11064240" cy="347472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6484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Ensemble members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6484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1 (deterministic)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6484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31 (probabilistic)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39" y="36484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</a:defRPr>
            </a:pPr>
            <a:r>
              <a:t>Uncertainty quantified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977640"/>
            <a:ext cx="11064240" cy="3474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9959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Cost per forecast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9959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~$2,400 (EOC act.)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9959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~$0.04 (cloud)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39" y="39959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</a:defRPr>
            </a:pPr>
            <a:r>
              <a:t>60,000× cheaper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25112"/>
            <a:ext cx="11064240" cy="347472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3434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Ungauged basins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3434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Requires gauge cal.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3434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Any watershed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39" y="43434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</a:defRPr>
            </a:pPr>
            <a:r>
              <a:t>Ungauged-ready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Validation Plan &amp; Performance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Four independent benchmarks — all from peer-reviewed literature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651760" cy="123444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C0"/>
                </a:solidFill>
              </a:defRPr>
            </a:pPr>
            <a:r>
              <a:t>In-Sample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7CDD4"/>
                </a:solidFill>
                <a:latin typeface="Calibri"/>
              </a:defRPr>
            </a:pPr>
            <a:r>
              <a:t>• LSTM on held-out years (2001–2006, 20 watersheds)</a:t>
            </a:r>
          </a:p>
          <a:p>
            <a:pPr>
              <a:spcAft>
                <a:spcPts val="400"/>
              </a:spcAft>
              <a:defRPr sz="1000">
                <a:solidFill>
                  <a:srgbClr val="C7CDD4"/>
                </a:solidFill>
                <a:latin typeface="Calibri"/>
              </a:defRPr>
            </a:pPr>
            <a:r>
              <a:t>• Target: NSE &gt; 0.75</a:t>
            </a:r>
            <a:br/>
            <a:r>
              <a:t>KGE &gt; 0.70</a:t>
            </a:r>
          </a:p>
          <a:p>
            <a:pPr>
              <a:spcAft>
                <a:spcPts val="400"/>
              </a:spcAft>
              <a:defRPr sz="1000">
                <a:solidFill>
                  <a:srgbClr val="C7CDD4"/>
                </a:solidFill>
                <a:latin typeface="Calibri"/>
              </a:defRPr>
            </a:pPr>
            <a:r>
              <a:t>• Ref: Moriasi et al. 2007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2651760" cy="123444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C0"/>
                </a:solidFill>
              </a:defRPr>
            </a:pPr>
            <a:r>
              <a:t>Out-of-Sample Generalization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204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7CDD4"/>
                </a:solidFill>
                <a:latin typeface="Calibri"/>
              </a:defRPr>
            </a:pPr>
            <a:r>
              <a:t>• LSTM on 5 held-out watersheds (never seen)</a:t>
            </a:r>
          </a:p>
          <a:p>
            <a:pPr>
              <a:spcAft>
                <a:spcPts val="400"/>
              </a:spcAft>
              <a:defRPr sz="1000">
                <a:solidFill>
                  <a:srgbClr val="C7CDD4"/>
                </a:solidFill>
                <a:latin typeface="Calibri"/>
              </a:defRPr>
            </a:pPr>
            <a:r>
              <a:t>• Target: NSE &gt; 0.65</a:t>
            </a:r>
          </a:p>
          <a:p>
            <a:pPr>
              <a:spcAft>
                <a:spcPts val="400"/>
              </a:spcAft>
              <a:defRPr sz="1000">
                <a:solidFill>
                  <a:srgbClr val="C7CDD4"/>
                </a:solidFill>
                <a:latin typeface="Calibri"/>
              </a:defRPr>
            </a:pPr>
            <a:r>
              <a:t>• Ref: Kratzert et al. 2019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2651760" cy="123444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6177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C0"/>
                </a:solidFill>
              </a:defRPr>
            </a:pPr>
            <a:r>
              <a:t>Historical Event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377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7CDD4"/>
                </a:solidFill>
                <a:latin typeface="Calibri"/>
              </a:defRPr>
            </a:pPr>
            <a:r>
              <a:t>• Full pipeline on 5 major AZ flood events</a:t>
            </a:r>
          </a:p>
          <a:p>
            <a:pPr>
              <a:spcAft>
                <a:spcPts val="400"/>
              </a:spcAft>
              <a:defRPr sz="1000">
                <a:solidFill>
                  <a:srgbClr val="C7CDD4"/>
                </a:solidFill>
                <a:latin typeface="Calibri"/>
              </a:defRPr>
            </a:pPr>
            <a:r>
              <a:t>• Target: IoU &gt; 0.75 vs post-event surveys</a:t>
            </a:r>
          </a:p>
          <a:p>
            <a:pPr>
              <a:spcAft>
                <a:spcPts val="400"/>
              </a:spcAft>
              <a:defRPr sz="1000">
                <a:solidFill>
                  <a:srgbClr val="C7CDD4"/>
                </a:solidFill>
                <a:latin typeface="Calibri"/>
              </a:defRPr>
            </a:pPr>
            <a:r>
              <a:t>• Ref: FEMA disaster assessments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2651760" cy="123444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035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C0"/>
                </a:solidFill>
              </a:defRPr>
            </a:pPr>
            <a:r>
              <a:t>Speed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5508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C7CDD4"/>
                </a:solidFill>
                <a:latin typeface="Calibri"/>
              </a:defRPr>
            </a:pPr>
            <a:r>
              <a:t>• Wall-clock: GFS input to flood map</a:t>
            </a:r>
          </a:p>
          <a:p>
            <a:pPr>
              <a:spcAft>
                <a:spcPts val="400"/>
              </a:spcAft>
              <a:defRPr sz="1000">
                <a:solidFill>
                  <a:srgbClr val="C7CDD4"/>
                </a:solidFill>
                <a:latin typeface="Calibri"/>
              </a:defRPr>
            </a:pPr>
            <a:r>
              <a:t>• Target: &lt; 60 seconds</a:t>
            </a:r>
          </a:p>
          <a:p>
            <a:pPr>
              <a:spcAft>
                <a:spcPts val="400"/>
              </a:spcAft>
              <a:defRPr sz="1000">
                <a:solidFill>
                  <a:srgbClr val="C7CDD4"/>
                </a:solidFill>
                <a:latin typeface="Calibri"/>
              </a:defRPr>
            </a:pPr>
            <a:r>
              <a:t>• Ref: Flash flood warning req.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BC0"/>
                </a:solidFill>
              </a:defRPr>
            </a:pPr>
            <a:r>
              <a:t>Baselines: Simple LSTM (no attributes) • HEC-HMS+HEC-RAS (physics) • FEMA static FIRM maps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Transferability: From Pilot to Any Watershed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40–80 hours per new watershed — not a full rebuild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5303520" cy="457200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How Transferability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Every AFFI component designed for transfer from day one.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Per-watershed inputs that change: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AOI / Bounding Box — 1 hour (USGS National Map)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NOAA Atlas 14 Benchmarks — 2 hours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Alert Thresholds — 4 hours (County OEM + NOAA)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1m DEM terrain data — 4 hours (USGS 3DEP)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HEC-RAS model — 20–40 hours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LSTM fine-tuning — 8 hours (if gauge data exists)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U-Net re-training — 10 hours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Architecture, alert logic, API, dashboard — unchanged.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91640"/>
            <a:ext cx="5394960" cy="457200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Statewide Expansion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Step 1: Prioritize AZ watersheds by: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    • USGS 3DEP 1m lidar availability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    • Flash flood risk to populated areas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    • No existing operational flood warning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Step 2: Rapid deployment (40–80 hrs/watershed)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Step 3: Cross-watershed validation test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Step 4: Statewide dashboard — all watersheds on one map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All data sources FREE from federal agencies.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Why This Matters for Pima County Flood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Same semi-arid flash flood challenge — with higher stakes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474720" cy="475488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Pima County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One of fastest-growing counties in the US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Hundreds of ephemeral washes and arroyos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Tucson metro area in flood-prone region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Monsoon season: July–September heavy rainfall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Time of concentration as short as 15–30 minutes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Channels dry 300+ days/yr, catastrophic flows in minutes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Climate: 15–40% more extreme precipitation by 2050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91640"/>
            <a:ext cx="3474720" cy="475488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What AFFI Delivers Pima County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Sub-60-second flood maps for ANY wash/creek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7-day forecast lead time (up to 84x current)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Probabilistic output — know your confidence level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No stream gauge needed — ungauged basins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All data FREE (NOAA, USGS, USDA)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Cloud compute cost: ~$0.04 per forecast run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EOC dashboard ready for County Emergency Ops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91640"/>
            <a:ext cx="3566160" cy="475488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  <a:r>
              <a:t>Immediate 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0312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Current approach: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Reactive response to flash floods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EOC activation: $2,400/hour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Post-flood debris: $180K–$450K per event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Bridge/road repair: $1.2M–$8M per segment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With AFFI: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Proactive: know BEFORE flood hits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Pre-position resources strategically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Close roads with confidence (not guesswork)</a:t>
            </a:r>
          </a:p>
          <a:p>
            <a:pPr>
              <a:spcAft>
                <a:spcPts val="400"/>
              </a:spcAft>
              <a:defRPr sz="1200">
                <a:solidFill>
                  <a:srgbClr val="C7CDD4"/>
                </a:solidFill>
                <a:latin typeface="Calibri"/>
              </a:defRPr>
            </a:pPr>
            <a:r>
              <a:t>• • Protect 1.8M+ Pima County residents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 Sources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All data from federal agencies at zero licensing cost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64240" cy="32004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190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C0"/>
                </a:solidFill>
              </a:defRPr>
            </a:pPr>
            <a:r>
              <a:t>Data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1907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BC0"/>
                </a:solidFill>
              </a:defRPr>
            </a:pPr>
            <a:r>
              <a:t>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39112"/>
            <a:ext cx="1106424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Streamflow (anchor)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6654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USDA ARS — Walnut Gulch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86584"/>
            <a:ext cx="11064240" cy="32004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1401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Streamflow (pilot)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1401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USGS NWIS — Gauge 09481740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34056"/>
            <a:ext cx="1106424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7614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Terrain (DEM)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614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USGS 3DEP — 1m lidar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81528"/>
            <a:ext cx="11064240" cy="32004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08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Forecast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1089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NOAA GFS — 31 ensemble members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29000"/>
            <a:ext cx="1106424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456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High-res forecast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4564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NOAA HRRR — 18 ensemble members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776472"/>
            <a:ext cx="11064240" cy="32004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8039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Radar rainfall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80390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NOAA MRMS — 1km resolution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123944"/>
            <a:ext cx="1106424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15137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Soil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1513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USDA SSURGO — 1:24,000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471416"/>
            <a:ext cx="11064240" cy="32004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988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Land cover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49884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USGS NLCD — 30m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818888"/>
            <a:ext cx="11064240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846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Watershed attributes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8463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USGS GAGES-II — 9,322 watersheds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166360"/>
            <a:ext cx="11064240" cy="32004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5193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Flood benchmarks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19379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NOAA Atlas 14 — all AZ counties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303520"/>
            <a:ext cx="11064240" cy="10972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3949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• Python 3.12 • pandas, numpy, scikit-learn • PyTorch (LSTM + U-Net)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• Plotly (dashboards) • Folium (map visualization) • FastAPI (REST API)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035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7CDD4"/>
                </a:solidFill>
              </a:defRPr>
            </a:pPr>
            <a:r>
              <a:t>• SQLite (persistence) • YAML configs • 30 automated tests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Timeline &amp;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From current state to full operational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743200" cy="6400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529"/>
                </a:solidFill>
              </a:defRPr>
            </a:pPr>
            <a:r>
              <a:t>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2743200" cy="34747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Task 1: Meteorological Forecast Interface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GFS ensemble ingestion + MAP computation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Alert logic calibrated &amp; validated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• Interactive dashboard operational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BC0"/>
                </a:solidFill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737360"/>
            <a:ext cx="2743200" cy="640080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783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529"/>
                </a:solidFill>
              </a:defRPr>
            </a:pPr>
            <a:r>
              <a:t>PHASE 2</a:t>
            </a:r>
            <a:br/>
            <a:r>
              <a:t>(NEXT)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468880"/>
            <a:ext cx="2743200" cy="34747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3611880" y="288036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Task 2: LSTM Hydrology (base → fine-tune)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Task 3: U-Net Hydraulic (train on HEC-RAS)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Target: NSE &gt; 0.75 in-sample, IoU &gt; 0.75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BC0"/>
                </a:solidFill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737360"/>
            <a:ext cx="2743200" cy="640080"/>
          </a:xfrm>
          <a:prstGeom prst="rect">
            <a:avLst/>
          </a:prstGeom>
          <a:solidFill>
            <a:srgbClr val="FDC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783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529"/>
                </a:solidFill>
              </a:defRPr>
            </a:pPr>
            <a:r>
              <a:t>PHASE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468880"/>
            <a:ext cx="2743200" cy="34747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537960" y="288036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Task 4: Probabilistic Risk Products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Task 5: Benchmarking &amp; Historical Validation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Task 6: Alert System + EOC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38328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7BC0"/>
                </a:solidFill>
              </a:defRPr>
            </a:pPr>
            <a: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737360"/>
            <a:ext cx="2743200" cy="640080"/>
          </a:xfrm>
          <a:prstGeom prst="rect">
            <a:avLst/>
          </a:prstGeom>
          <a:solidFill>
            <a:srgbClr val="E85D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783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2529"/>
                </a:solidFill>
              </a:defRPr>
            </a:pPr>
            <a:r>
              <a:t>PHASE 4</a:t>
            </a:r>
            <a:br/>
            <a:r>
              <a:t>(LAUNCH)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35440" y="2468880"/>
            <a:ext cx="2743200" cy="3474720"/>
          </a:xfrm>
          <a:prstGeom prst="rect">
            <a:avLst/>
          </a:prstGeom>
          <a:solidFill>
            <a:srgbClr val="22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BC0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9464040" y="2880360"/>
            <a:ext cx="2286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Live testing during monsoon season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Deploy to multiple Pima County washes</a:t>
            </a:r>
          </a:p>
          <a:p>
            <a:pPr>
              <a:spcAft>
                <a:spcPts val="400"/>
              </a:spcAft>
              <a:defRPr sz="1100">
                <a:solidFill>
                  <a:srgbClr val="C7CDD4"/>
                </a:solidFill>
                <a:latin typeface="Calibri"/>
              </a:defRPr>
            </a:pPr>
            <a:r>
              <a:t>• Statewide dashboard all watersheds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16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7BC0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Ready to pilot AFFI in Pima County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7CDD4"/>
                </a:solidFill>
              </a:defRPr>
            </a:pPr>
            <a:r>
              <a:t>Let’s discuss how we can work together to protect Pima County communities.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8A745"/>
                </a:solidFill>
              </a:defRPr>
            </a:pPr>
            <a:r>
              <a:t>Solman Raju Sarva | MSc — AI &amp; Hydrology Researcher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A9196"/>
                </a:solidFill>
              </a:defRPr>
            </a:pPr>
            <a:r>
              <a:t>University of Arizona — Hydrology Program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Appendix: Detailed System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7CDD4"/>
                </a:solidFill>
              </a:defRPr>
            </a:pPr>
            <a:r>
              <a:t>Why each existing system cannot serve rural Arizona flash floods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2743200" cy="36576"/>
          </a:xfrm>
          <a:prstGeom prst="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691640"/>
          <a:ext cx="9326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371600"/>
                <a:gridCol w="1188720"/>
                <a:gridCol w="1554480"/>
                <a:gridCol w="13716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007B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Forecast Type</a:t>
                      </a:r>
                    </a:p>
                  </a:txBody>
                  <a:tcPr>
                    <a:solidFill>
                      <a:srgbClr val="007B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Lead Time</a:t>
                      </a:r>
                    </a:p>
                  </a:txBody>
                  <a:tcPr>
                    <a:solidFill>
                      <a:srgbClr val="007B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Ungauged</a:t>
                      </a:r>
                    </a:p>
                  </a:txBody>
                  <a:tcPr>
                    <a:solidFill>
                      <a:srgbClr val="007B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Rural Arroyos</a:t>
                      </a:r>
                    </a:p>
                  </a:txBody>
                  <a:tcPr>
                    <a:solidFill>
                      <a:srgbClr val="007B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12529"/>
                          </a:solidFill>
                        </a:defRPr>
                      </a:pPr>
                      <a:r>
                        <a:t>Real-Time</a:t>
                      </a:r>
                    </a:p>
                  </a:txBody>
                  <a:tcPr>
                    <a:solidFill>
                      <a:srgbClr val="007BC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t>AFFI (Proposed)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t>Probabilistic inundation maps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t>Up to 7 days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8A74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NOAA NWM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Streamflow forecast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Up to 7 days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Google Flood Hub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Flood forecast + maps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Up to 7 days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FEMA FIRM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Static hazard zones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None (static)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First Street Found.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Property-level risk scoring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None (static)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223554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FLASH System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Short-lead flash flood alerts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Hours to 1 day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7CDD4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